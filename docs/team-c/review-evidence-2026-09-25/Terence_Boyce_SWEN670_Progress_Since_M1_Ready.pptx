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9ac88a66664e49" /><Relationship Type="http://schemas.openxmlformats.org/officeDocument/2006/relationships/extended-properties" Target="/docProps/app.xml" Id="Rd9b2bf6cfa2e47ea" /><Relationship Type="http://schemas.openxmlformats.org/officeDocument/2006/relationships/officeDocument" Target="/ppt/presentation.xml" Id="Rf5c03cf58603488a" /></Relationships>
</file>

<file path=ppt/presentation.xml><?xml version="1.0" encoding="utf-8"?>
<p:presentation xmlns:p="http://schemas.openxmlformats.org/presentationml/2006/main">
  <p:sldMasterIdLst>
    <p:sldMasterId xmlns:r="http://schemas.openxmlformats.org/officeDocument/2006/relationships" id="2147483648" r:id="R5aae94c260e74464"/>
  </p:sldMasterIdLst>
  <p:notesMasterIdLst>
    <p:notesMasterId xmlns:r="http://schemas.openxmlformats.org/officeDocument/2006/relationships" r:id="Rffc43ef8b1784ac8"/>
  </p:notesMasterIdLst>
  <p:sldIdLst>
    <p:sldId xmlns:r="http://schemas.openxmlformats.org/officeDocument/2006/relationships" id="256" r:id="R24813852803343f4"/>
    <p:sldId xmlns:r="http://schemas.openxmlformats.org/officeDocument/2006/relationships" id="257" r:id="R44e8da083f574987"/>
    <p:sldId xmlns:r="http://schemas.openxmlformats.org/officeDocument/2006/relationships" id="258" r:id="R5b7c29e1f8934cc8"/>
    <p:sldId xmlns:r="http://schemas.openxmlformats.org/officeDocument/2006/relationships" id="259" r:id="R43d9f885fb0b4f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0db2340898416d" /><Relationship Type="http://schemas.openxmlformats.org/officeDocument/2006/relationships/slideMaster" Target="/ppt/slideMasters/slideMaster1.xml" Id="R5aae94c260e74464" /><Relationship Type="http://schemas.openxmlformats.org/officeDocument/2006/relationships/notesMaster" Target="/ppt/notesMasters/notesMaster1.xml" Id="Rffc43ef8b1784ac8" /><Relationship Type="http://schemas.openxmlformats.org/officeDocument/2006/relationships/presProps" Target="/ppt/presProps.xml" Id="R25f4472f27494b4c" /><Relationship Type="http://schemas.openxmlformats.org/officeDocument/2006/relationships/tableStyles" Target="/ppt/tableStyles.xml" Id="R7805e56868e24d53" /><Relationship Type="http://schemas.openxmlformats.org/officeDocument/2006/relationships/slide" Target="/ppt/slides/slide1.xml" Id="R24813852803343f4" /><Relationship Type="http://schemas.openxmlformats.org/officeDocument/2006/relationships/slide" Target="/ppt/slides/slide2.xml" Id="R44e8da083f574987" /><Relationship Type="http://schemas.openxmlformats.org/officeDocument/2006/relationships/slide" Target="/ppt/slides/slide3.xml" Id="R5b7c29e1f8934cc8" /><Relationship Type="http://schemas.openxmlformats.org/officeDocument/2006/relationships/slide" Target="/ppt/slides/slide4.xml" Id="R43d9f885fb0b4f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5eaaa920b94d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106ec76ee84d95" /><Relationship Type="http://schemas.openxmlformats.org/officeDocument/2006/relationships/notesMaster" Target="/ppt/notesMasters/notesMaster1.xml" Id="R08629de7c9354c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4ad551ca084be0" /><Relationship Type="http://schemas.openxmlformats.org/officeDocument/2006/relationships/notesMaster" Target="/ppt/notesMasters/notesMaster1.xml" Id="R0dac89783aff44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c26108d2e14c0a" /><Relationship Type="http://schemas.openxmlformats.org/officeDocument/2006/relationships/notesMaster" Target="/ppt/notesMasters/notesMaster1.xml" Id="Rce247ba6b9774e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3862d2b6a6427a" /><Relationship Type="http://schemas.openxmlformats.org/officeDocument/2006/relationships/notesMaster" Target="/ppt/notesMasters/notesMaster1.xml" Id="Re46f2aa3a3ec40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Since Milestone 1 ended around September 7, I have worked on both project planning and software development. I prepared Milestone 2 design drafts for Teams A through E. For Team C, I expanded the design and gave the test team cases based on it. These are drafts for review. QA owns the final test plan and sign-off. The aim is to reduce unclear work and help teams agree on what they need to build.</a:t>
            </a:r>
          </a:p>
          <a:p xmlns:a="http://schemas.openxmlformats.org/drawingml/2006/main">
            <a:r>
              <a:t>Sources: /Volumes/TerenceB/SWEN670/sandbox/CODEX_TEMPLATE3/output/TeamA_TDD_M2_v2.1.docx through TeamE_TDD_M2_v2.1.docx; /Volumes/TerenceB/SWEN670/notes/coursework/Team C Deliverables/Milestone 2/TeamC_M2_TDD_Expansion_2026-09-09_v2.md; TeamC_M2_Software_Test_Plan_Expansion_2026-09-09_v2.md.</a:t>
            </a:r>
          </a:p>
          <a:p xmlns:a="http://schemas.openxmlformats.org/drawingml/2006/main">
            <a:r>
              <a:t>Drafts are not approved team deliverables. Reporting start follows the user's approximate September 7 milestone date. Background: AI-generated decorative paper texture.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created a Patient and Appointment mapping guide and a design addendum for our Cerner work. I then built the first read-only data component. It prepares patient and appointment data for later use without changing the local patient record. The checks reject records linked to the wrong patient and preserve key details. For example, a cancelled visit stays cancelled. I checked sample data in the public test site. That does not prove secure sign-in or a complete live connection.</a:t>
            </a:r>
          </a:p>
          <a:p xmlns:a="http://schemas.openxmlformats.org/drawingml/2006/main">
            <a:r>
              <a:t>Sources: /Volumes/TerenceB/SWEN670/CODEX_TEMPLATE3/outputs/Patient_Appointment_Mapping_Work_Log_2026-09-17.md; TeamC_Patient_Appointment_Mapping_2026-09-17.docx; TeamC_TDD_Patient_Appointment_Addendum_2026-09-17.docx; https://github.com/umgc/2026_fall_careconnect/pull/148, commit 29b94dd2a467443b5ce65e4f95b6f7346fb56b29. Background: AI-generated decorative paper texture.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ran 57 tests on the new mapping component, and all passed. They include checks for wrong-patient records, bad dates, and error messages that do not reveal patient values. I also fixed 102 issues found by the project's code-check rules. The focused scan then found none in this component, with no rule changes. I submitted the work in draft pull request 148 so others can review it. These are component-level results, not proof that the full app or hospital link is ready. The wider repository has separate quality concerns.</a:t>
            </a:r>
          </a:p>
          <a:p xmlns:a="http://schemas.openxmlformats.org/drawingml/2006/main">
            <a:r>
              <a:t>Sources: /Volumes/TerenceB/SWEN670/CODEX_TEMPLATE3/outputs/Cerner_PR148_PMD_Fix_Work_Log_2026-09-17.md; https://github.com/umgc/2026_fall_careconnect/pull/148. Local results recorded September 17, 2026 at commit 29b94dd2. PR read on September 18: open, draft, no reviews, no merge. The automated check reported SUCCESS, but report-only checks do not prove all quality findings are resolved. Background: AI-generated decorative paper texture.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reviewed Team C branches and work against the milestone plan. I separated completed drafts from work still waiting on review, and I flagged gaps in language support and the Cerner sign-in setup. I also gathered the shared folder links and found that I could read the main team folder but could not upload there at the time of the check. This helps make the next actions clear. My next focus is to support review of the new component and help prepare a secure test of the full connection. I have not claimed a live launch, a merge, or an approved final design.</a:t>
            </a:r>
          </a:p>
          <a:p xmlns:a="http://schemas.openxmlformats.org/drawingml/2006/main">
            <a:r>
              <a:t>Sources: /Volumes/TerenceB/SWEN670/CODEX_TEMPLATE3/outputs/Team_C_Audit_Work_Log_2026-09-17.md; Team_C_Status_2026-09-17.md; Team_C_OneDrive_Folder_Links_2026-09-17.md; Team_C_Folder_Upload_Access_Check_2026-09-17.md. Folder access and branch gaps describe the September 17 snapshot. Background: AI-generated decorative paper texture.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1821bafd5840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525ff3393a463a" /><Relationship Type="http://schemas.openxmlformats.org/officeDocument/2006/relationships/slideLayout" Target="/ppt/slideLayouts/slideLayout1.xml" Id="R65971696e5994c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971696e5994c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e5f08c00cc4005" /><Relationship Type="http://schemas.openxmlformats.org/officeDocument/2006/relationships/image" Target="/ppt/media/image.png" Id="R3a8d1db61439438c" /><Relationship Type="http://schemas.openxmlformats.org/officeDocument/2006/relationships/notesSlide" Target="/ppt/notesSlides/notesSlide1.xml" Id="R9a77bf03f13547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22ab63630a48ac" /><Relationship Type="http://schemas.openxmlformats.org/officeDocument/2006/relationships/image" Target="/ppt/media/image2.png" Id="Rccefd24fa10b4d89" /><Relationship Type="http://schemas.openxmlformats.org/officeDocument/2006/relationships/notesSlide" Target="/ppt/notesSlides/notesSlide2.xml" Id="Rc498d57287e14f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2478a95ec54b61" /><Relationship Type="http://schemas.openxmlformats.org/officeDocument/2006/relationships/image" Target="/ppt/media/image3.png" Id="Rce77e1306ad0403d" /><Relationship Type="http://schemas.openxmlformats.org/officeDocument/2006/relationships/notesSlide" Target="/ppt/notesSlides/notesSlide3.xml" Id="Rfef527f0cf2943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9cbb2e1b6647d0" /><Relationship Type="http://schemas.openxmlformats.org/officeDocument/2006/relationships/image" Target="/ppt/media/image4.png" Id="Rae9cf2cd32684d52" /><Relationship Type="http://schemas.openxmlformats.org/officeDocument/2006/relationships/notesSlide" Target="/ppt/notesSlides/notesSlide4.xml" Id="Rb7f6a62d8cf8442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8d1db6143943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786CFF-ADA3-43E6-9B07-04C2883A9B0C}"/>
              </a:ext>
            </a:extLst>
          </p:cNvPr>
          <p:cNvSpPr>
            <a:spLocks xmlns:a="http://schemas.openxmlformats.org/drawingml/2006/main" noGrp="1"/>
          </p:cNvSpPr>
          <p:nvPr/>
        </p:nvSpPr>
        <p:spPr>
          <a:xfrm xmlns:a="http://schemas.openxmlformats.org/drawingml/2006/main">
            <a:off x="666750" y="619125"/>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83D"/>
                </a:solidFill>
                <a:latin typeface="Helvetica Neue"/>
                <a:ea typeface="Helvetica Neue"/>
                <a:cs typeface="Helvetica Neue"/>
              </a:defRPr>
            </a:pPr>
            <a:r>
              <a:rPr sz="3600" b="1">
                <a:solidFill>
                  <a:srgbClr val="17383D"/>
                </a:solidFill>
                <a:latin typeface="Helvetica Neue"/>
                <a:ea typeface="Helvetica Neue"/>
                <a:cs typeface="Helvetica Neue"/>
              </a:rPr>
              <a:t>My work since Milestone 1</a:t>
            </a:r>
          </a:p>
        </p:txBody>
      </p:sp>
      <p:sp>
        <p:nvSpPr>
          <p:cNvPr id="3" name="">
            <a:extLst xmlns:a="http://schemas.openxmlformats.org/drawingml/2006/main">
              <a:ext uri="{FF2B5EF4-FFF2-40B4-BE49-F238E27FC236}">
                <a16:creationId xmlns:a16="http://schemas.microsoft.com/office/drawing/2014/main" id="{08F94E5F-2F08-47FE-9CCA-45C6C5BF7ABB}"/>
              </a:ext>
            </a:extLst>
          </p:cNvPr>
          <p:cNvSpPr>
            <a:spLocks xmlns:a="http://schemas.openxmlformats.org/drawingml/2006/main" noGrp="1"/>
          </p:cNvSpPr>
          <p:nvPr/>
        </p:nvSpPr>
        <p:spPr>
          <a:xfrm xmlns:a="http://schemas.openxmlformats.org/drawingml/2006/main">
            <a:off x="666750" y="62388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6A"/>
                </a:solidFill>
                <a:latin typeface="Helvetica Neue"/>
                <a:ea typeface="Helvetica Neue"/>
                <a:cs typeface="Helvetica Neue"/>
              </a:defRPr>
            </a:pPr>
            <a:r>
              <a:rPr sz="1350" b="0">
                <a:solidFill>
                  <a:srgbClr val="51666A"/>
                </a:solidFill>
                <a:latin typeface="Helvetica Neue"/>
                <a:ea typeface="Helvetica Neue"/>
                <a:cs typeface="Helvetica Neue"/>
              </a:rPr>
              <a:t>1 / 4</a:t>
            </a:r>
          </a:p>
        </p:txBody>
      </p:sp>
      <p:sp>
        <p:nvSpPr>
          <p:cNvPr id="4" name="">
            <a:extLst xmlns:a="http://schemas.openxmlformats.org/drawingml/2006/main">
              <a:ext uri="{FF2B5EF4-FFF2-40B4-BE49-F238E27FC236}">
                <a16:creationId xmlns:a16="http://schemas.microsoft.com/office/drawing/2014/main" id="{4BA1B86F-F24E-44A1-B2DD-40E0D03E672E}"/>
              </a:ext>
            </a:extLst>
          </p:cNvPr>
          <p:cNvSpPr>
            <a:spLocks xmlns:a="http://schemas.openxmlformats.org/drawingml/2006/main" noGrp="1"/>
          </p:cNvSpPr>
          <p:nvPr/>
        </p:nvSpPr>
        <p:spPr>
          <a:xfrm xmlns:a="http://schemas.openxmlformats.org/drawingml/2006/main">
            <a:off x="704850" y="1609725"/>
            <a:ext cx="947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66A"/>
                </a:solidFill>
                <a:latin typeface="Helvetica Neue"/>
                <a:ea typeface="Helvetica Neue"/>
                <a:cs typeface="Helvetica Neue"/>
              </a:defRPr>
            </a:pPr>
            <a:r>
              <a:rPr sz="1650" b="0">
                <a:solidFill>
                  <a:srgbClr val="51666A"/>
                </a:solidFill>
                <a:latin typeface="Helvetica Neue"/>
                <a:ea typeface="Helvetica Neue"/>
                <a:cs typeface="Helvetica Neue"/>
              </a:rPr>
              <a:t>Terence Boyce, SWEN 670 September 8–18, 2026</a:t>
            </a:r>
          </a:p>
        </p:txBody>
      </p:sp>
      <p:sp>
        <p:nvSpPr>
          <p:cNvPr id="5" name="">
            <a:extLst xmlns:a="http://schemas.openxmlformats.org/drawingml/2006/main">
              <a:ext uri="{FF2B5EF4-FFF2-40B4-BE49-F238E27FC236}">
                <a16:creationId xmlns:a16="http://schemas.microsoft.com/office/drawing/2014/main" id="{697FC587-E37E-4F1C-8668-BF9E381AE302}"/>
              </a:ext>
            </a:extLst>
          </p:cNvPr>
          <p:cNvSpPr>
            <a:spLocks xmlns:a="http://schemas.openxmlformats.org/drawingml/2006/main" noGrp="1"/>
          </p:cNvSpPr>
          <p:nvPr/>
        </p:nvSpPr>
        <p:spPr>
          <a:xfrm xmlns:a="http://schemas.openxmlformats.org/drawingml/2006/main">
            <a:off x="704850" y="23812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I drafted plans for Teams A–E</a:t>
            </a:r>
          </a:p>
        </p:txBody>
      </p:sp>
      <p:sp>
        <p:nvSpPr>
          <p:cNvPr id="6" name="">
            <a:extLst xmlns:a="http://schemas.openxmlformats.org/drawingml/2006/main">
              <a:ext uri="{FF2B5EF4-FFF2-40B4-BE49-F238E27FC236}">
                <a16:creationId xmlns:a16="http://schemas.microsoft.com/office/drawing/2014/main" id="{FADFB1D3-E880-45FE-977E-D41435745F0D}"/>
              </a:ext>
            </a:extLst>
          </p:cNvPr>
          <p:cNvSpPr>
            <a:spLocks xmlns:a="http://schemas.openxmlformats.org/drawingml/2006/main" noGrp="1"/>
          </p:cNvSpPr>
          <p:nvPr/>
        </p:nvSpPr>
        <p:spPr>
          <a:xfrm xmlns:a="http://schemas.openxmlformats.org/drawingml/2006/main">
            <a:off x="704850" y="2847975"/>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I prepared design drafts to help each team review its work.</a:t>
            </a:r>
          </a:p>
        </p:txBody>
      </p:sp>
      <p:sp>
        <p:nvSpPr>
          <p:cNvPr id="7" name="">
            <a:extLst xmlns:a="http://schemas.openxmlformats.org/drawingml/2006/main">
              <a:ext uri="{FF2B5EF4-FFF2-40B4-BE49-F238E27FC236}">
                <a16:creationId xmlns:a16="http://schemas.microsoft.com/office/drawing/2014/main" id="{C1CDD594-B87A-4061-A1A7-2ABBE0B0E567}"/>
              </a:ext>
            </a:extLst>
          </p:cNvPr>
          <p:cNvSpPr>
            <a:spLocks xmlns:a="http://schemas.openxmlformats.org/drawingml/2006/main" noGrp="1"/>
          </p:cNvSpPr>
          <p:nvPr/>
        </p:nvSpPr>
        <p:spPr>
          <a:xfrm xmlns:a="http://schemas.openxmlformats.org/drawingml/2006/main">
            <a:off x="704850" y="37147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I expanded Team C’s design and test plans</a:t>
            </a:r>
          </a:p>
        </p:txBody>
      </p:sp>
      <p:sp>
        <p:nvSpPr>
          <p:cNvPr id="8" name="">
            <a:extLst xmlns:a="http://schemas.openxmlformats.org/drawingml/2006/main">
              <a:ext uri="{FF2B5EF4-FFF2-40B4-BE49-F238E27FC236}">
                <a16:creationId xmlns:a16="http://schemas.microsoft.com/office/drawing/2014/main" id="{DC0E027A-7221-43A3-99F8-DFCFE453AF9D}"/>
              </a:ext>
            </a:extLst>
          </p:cNvPr>
          <p:cNvSpPr>
            <a:spLocks xmlns:a="http://schemas.openxmlformats.org/drawingml/2006/main" noGrp="1"/>
          </p:cNvSpPr>
          <p:nvPr/>
        </p:nvSpPr>
        <p:spPr>
          <a:xfrm xmlns:a="http://schemas.openxmlformats.org/drawingml/2006/main">
            <a:off x="704850" y="4181475"/>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I linked design choices to checks for safe data use and language support.</a:t>
            </a:r>
          </a:p>
        </p:txBody>
      </p:sp>
      <p:sp>
        <p:nvSpPr>
          <p:cNvPr id="9" name="">
            <a:extLst xmlns:a="http://schemas.openxmlformats.org/drawingml/2006/main">
              <a:ext uri="{FF2B5EF4-FFF2-40B4-BE49-F238E27FC236}">
                <a16:creationId xmlns:a16="http://schemas.microsoft.com/office/drawing/2014/main" id="{069648CE-9B27-499A-BC18-5A68685B9A49}"/>
              </a:ext>
            </a:extLst>
          </p:cNvPr>
          <p:cNvSpPr>
            <a:spLocks xmlns:a="http://schemas.openxmlformats.org/drawingml/2006/main" noGrp="1"/>
          </p:cNvSpPr>
          <p:nvPr/>
        </p:nvSpPr>
        <p:spPr>
          <a:xfrm xmlns:a="http://schemas.openxmlformats.org/drawingml/2006/main">
            <a:off x="704850" y="5400675"/>
            <a:ext cx="923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6B"/>
                </a:solidFill>
                <a:latin typeface="Helvetica Neue"/>
                <a:ea typeface="Helvetica Neue"/>
                <a:cs typeface="Helvetica Neue"/>
              </a:defRPr>
            </a:pPr>
            <a:r>
              <a:rPr sz="2175" b="1">
                <a:solidFill>
                  <a:srgbClr val="006D6B"/>
                </a:solidFill>
                <a:latin typeface="Helvetica Neue"/>
                <a:ea typeface="Helvetica Neue"/>
                <a:cs typeface="Helvetica Neue"/>
              </a:rPr>
              <a:t>Value: clearer plans before the team builds more features.</a:t>
            </a:r>
          </a:p>
        </p:txBody>
      </p:sp>
    </p:spTree>
    <p:extLst>
      <p:ext uri="{BB962C8B-B14F-4D97-AF65-F5344CB8AC3E}">
        <p14:creationId xmlns:p14="http://schemas.microsoft.com/office/powerpoint/2010/main" val="18149838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cefd24fa10b4d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9EEA2F-F32E-498A-B6E4-6ADF7F6BC18A}"/>
              </a:ext>
            </a:extLst>
          </p:cNvPr>
          <p:cNvSpPr>
            <a:spLocks xmlns:a="http://schemas.openxmlformats.org/drawingml/2006/main" noGrp="1"/>
          </p:cNvSpPr>
          <p:nvPr/>
        </p:nvSpPr>
        <p:spPr>
          <a:xfrm xmlns:a="http://schemas.openxmlformats.org/drawingml/2006/main">
            <a:off x="666750" y="619125"/>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83D"/>
                </a:solidFill>
                <a:latin typeface="Helvetica Neue"/>
                <a:ea typeface="Helvetica Neue"/>
                <a:cs typeface="Helvetica Neue"/>
              </a:defRPr>
            </a:pPr>
            <a:r>
              <a:rPr sz="3600" b="1">
                <a:solidFill>
                  <a:srgbClr val="17383D"/>
                </a:solidFill>
                <a:latin typeface="Helvetica Neue"/>
                <a:ea typeface="Helvetica Neue"/>
                <a:cs typeface="Helvetica Neue"/>
              </a:rPr>
              <a:t>I built a Cerner data tool</a:t>
            </a:r>
          </a:p>
        </p:txBody>
      </p:sp>
      <p:sp>
        <p:nvSpPr>
          <p:cNvPr id="3" name="">
            <a:extLst xmlns:a="http://schemas.openxmlformats.org/drawingml/2006/main">
              <a:ext uri="{FF2B5EF4-FFF2-40B4-BE49-F238E27FC236}">
                <a16:creationId xmlns:a16="http://schemas.microsoft.com/office/drawing/2014/main" id="{235B3655-DD89-415C-9992-8D98EFD9E8CF}"/>
              </a:ext>
            </a:extLst>
          </p:cNvPr>
          <p:cNvSpPr>
            <a:spLocks xmlns:a="http://schemas.openxmlformats.org/drawingml/2006/main" noGrp="1"/>
          </p:cNvSpPr>
          <p:nvPr/>
        </p:nvSpPr>
        <p:spPr>
          <a:xfrm xmlns:a="http://schemas.openxmlformats.org/drawingml/2006/main">
            <a:off x="666750" y="62388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6A"/>
                </a:solidFill>
                <a:latin typeface="Helvetica Neue"/>
                <a:ea typeface="Helvetica Neue"/>
                <a:cs typeface="Helvetica Neue"/>
              </a:defRPr>
            </a:pPr>
            <a:r>
              <a:rPr sz="1350" b="0">
                <a:solidFill>
                  <a:srgbClr val="51666A"/>
                </a:solidFill>
                <a:latin typeface="Helvetica Neue"/>
                <a:ea typeface="Helvetica Neue"/>
                <a:cs typeface="Helvetica Neue"/>
              </a:rPr>
              <a:t>2 / 4</a:t>
            </a:r>
          </a:p>
        </p:txBody>
      </p:sp>
      <p:sp>
        <p:nvSpPr>
          <p:cNvPr id="4" name="">
            <a:extLst xmlns:a="http://schemas.openxmlformats.org/drawingml/2006/main">
              <a:ext uri="{FF2B5EF4-FFF2-40B4-BE49-F238E27FC236}">
                <a16:creationId xmlns:a16="http://schemas.microsoft.com/office/drawing/2014/main" id="{1C6BE2A9-8636-4587-B1F9-05A1E53433FB}"/>
              </a:ext>
            </a:extLst>
          </p:cNvPr>
          <p:cNvSpPr>
            <a:spLocks xmlns:a="http://schemas.openxmlformats.org/drawingml/2006/main" noGrp="1"/>
          </p:cNvSpPr>
          <p:nvPr/>
        </p:nvSpPr>
        <p:spPr>
          <a:xfrm xmlns:a="http://schemas.openxmlformats.org/drawingml/2006/main">
            <a:off x="704850" y="1714500"/>
            <a:ext cx="923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Cerner is the hospital records system we plan to connect.</a:t>
            </a:r>
          </a:p>
        </p:txBody>
      </p:sp>
      <p:sp>
        <p:nvSpPr>
          <p:cNvPr id="5" name="">
            <a:extLst xmlns:a="http://schemas.openxmlformats.org/drawingml/2006/main">
              <a:ext uri="{FF2B5EF4-FFF2-40B4-BE49-F238E27FC236}">
                <a16:creationId xmlns:a16="http://schemas.microsoft.com/office/drawing/2014/main" id="{7526C660-0A6E-46CE-A0BB-75B643F13F5B}"/>
              </a:ext>
            </a:extLst>
          </p:cNvPr>
          <p:cNvSpPr>
            <a:spLocks xmlns:a="http://schemas.openxmlformats.org/drawingml/2006/main" noGrp="1"/>
          </p:cNvSpPr>
          <p:nvPr/>
        </p:nvSpPr>
        <p:spPr>
          <a:xfrm xmlns:a="http://schemas.openxmlformats.org/drawingml/2006/main">
            <a:off x="704850" y="2705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I defined how patient and visit data should fit</a:t>
            </a:r>
          </a:p>
        </p:txBody>
      </p:sp>
      <p:sp>
        <p:nvSpPr>
          <p:cNvPr id="6" name="">
            <a:extLst xmlns:a="http://schemas.openxmlformats.org/drawingml/2006/main">
              <a:ext uri="{FF2B5EF4-FFF2-40B4-BE49-F238E27FC236}">
                <a16:creationId xmlns:a16="http://schemas.microsoft.com/office/drawing/2014/main" id="{F684F197-AB95-4C33-9EC6-47166B31EE3D}"/>
              </a:ext>
            </a:extLst>
          </p:cNvPr>
          <p:cNvSpPr>
            <a:spLocks xmlns:a="http://schemas.openxmlformats.org/drawingml/2006/main" noGrp="1"/>
          </p:cNvSpPr>
          <p:nvPr/>
        </p:nvSpPr>
        <p:spPr>
          <a:xfrm xmlns:a="http://schemas.openxmlformats.org/drawingml/2006/main">
            <a:off x="704850" y="3171825"/>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I wrote a field guide and added the rules to our design plan.</a:t>
            </a:r>
          </a:p>
        </p:txBody>
      </p:sp>
      <p:sp>
        <p:nvSpPr>
          <p:cNvPr id="7" name="">
            <a:extLst xmlns:a="http://schemas.openxmlformats.org/drawingml/2006/main">
              <a:ext uri="{FF2B5EF4-FFF2-40B4-BE49-F238E27FC236}">
                <a16:creationId xmlns:a16="http://schemas.microsoft.com/office/drawing/2014/main" id="{2294BCD4-94AD-4D64-B833-FCB96EDD238A}"/>
              </a:ext>
            </a:extLst>
          </p:cNvPr>
          <p:cNvSpPr>
            <a:spLocks xmlns:a="http://schemas.openxmlformats.org/drawingml/2006/main" noGrp="1"/>
          </p:cNvSpPr>
          <p:nvPr/>
        </p:nvSpPr>
        <p:spPr>
          <a:xfrm xmlns:a="http://schemas.openxmlformats.org/drawingml/2006/main">
            <a:off x="704850" y="40386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I built checks into the new tool</a:t>
            </a:r>
          </a:p>
        </p:txBody>
      </p:sp>
      <p:sp>
        <p:nvSpPr>
          <p:cNvPr id="8" name="">
            <a:extLst xmlns:a="http://schemas.openxmlformats.org/drawingml/2006/main">
              <a:ext uri="{FF2B5EF4-FFF2-40B4-BE49-F238E27FC236}">
                <a16:creationId xmlns:a16="http://schemas.microsoft.com/office/drawing/2014/main" id="{6E7900A2-1AA3-4289-BA53-67BD728C2CFE}"/>
              </a:ext>
            </a:extLst>
          </p:cNvPr>
          <p:cNvSpPr>
            <a:spLocks xmlns:a="http://schemas.openxmlformats.org/drawingml/2006/main" noGrp="1"/>
          </p:cNvSpPr>
          <p:nvPr/>
        </p:nvSpPr>
        <p:spPr>
          <a:xfrm xmlns:a="http://schemas.openxmlformats.org/drawingml/2006/main">
            <a:off x="704850" y="4505325"/>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It checks the patient match and keeps visit dates and status intact.</a:t>
            </a:r>
          </a:p>
        </p:txBody>
      </p:sp>
      <p:sp>
        <p:nvSpPr>
          <p:cNvPr id="9" name="">
            <a:extLst xmlns:a="http://schemas.openxmlformats.org/drawingml/2006/main">
              <a:ext uri="{FF2B5EF4-FFF2-40B4-BE49-F238E27FC236}">
                <a16:creationId xmlns:a16="http://schemas.microsoft.com/office/drawing/2014/main" id="{2DFB66D2-88EC-4E3D-8F85-7F95F925C5FD}"/>
              </a:ext>
            </a:extLst>
          </p:cNvPr>
          <p:cNvSpPr>
            <a:spLocks xmlns:a="http://schemas.openxmlformats.org/drawingml/2006/main" noGrp="1"/>
          </p:cNvSpPr>
          <p:nvPr/>
        </p:nvSpPr>
        <p:spPr>
          <a:xfrm xmlns:a="http://schemas.openxmlformats.org/drawingml/2006/main">
            <a:off x="704850" y="55245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D6B"/>
                </a:solidFill>
                <a:latin typeface="Helvetica Neue"/>
                <a:ea typeface="Helvetica Neue"/>
                <a:cs typeface="Helvetica Neue"/>
              </a:defRPr>
            </a:pPr>
            <a:r>
              <a:rPr sz="2100" b="1">
                <a:solidFill>
                  <a:srgbClr val="006D6B"/>
                </a:solidFill>
                <a:latin typeface="Helvetica Neue"/>
                <a:ea typeface="Helvetica Neue"/>
                <a:cs typeface="Helvetica Neue"/>
              </a:rPr>
              <a:t>This part is built. The secure hospital link still needs work.</a:t>
            </a:r>
          </a:p>
        </p:txBody>
      </p:sp>
    </p:spTree>
    <p:extLst>
      <p:ext uri="{BB962C8B-B14F-4D97-AF65-F5344CB8AC3E}">
        <p14:creationId xmlns:p14="http://schemas.microsoft.com/office/powerpoint/2010/main" val="5728370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e77e1306ad0403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D41450-578E-4399-8355-D07D4975E229}"/>
              </a:ext>
            </a:extLst>
          </p:cNvPr>
          <p:cNvSpPr>
            <a:spLocks xmlns:a="http://schemas.openxmlformats.org/drawingml/2006/main" noGrp="1"/>
          </p:cNvSpPr>
          <p:nvPr/>
        </p:nvSpPr>
        <p:spPr>
          <a:xfrm xmlns:a="http://schemas.openxmlformats.org/drawingml/2006/main">
            <a:off x="666750" y="619125"/>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83D"/>
                </a:solidFill>
                <a:latin typeface="Helvetica Neue"/>
                <a:ea typeface="Helvetica Neue"/>
                <a:cs typeface="Helvetica Neue"/>
              </a:defRPr>
            </a:pPr>
            <a:r>
              <a:rPr sz="3600" b="1">
                <a:solidFill>
                  <a:srgbClr val="17383D"/>
                </a:solidFill>
                <a:latin typeface="Helvetica Neue"/>
                <a:ea typeface="Helvetica Neue"/>
                <a:cs typeface="Helvetica Neue"/>
              </a:rPr>
              <a:t>I tested the new work and fixed issues</a:t>
            </a:r>
          </a:p>
        </p:txBody>
      </p:sp>
      <p:sp>
        <p:nvSpPr>
          <p:cNvPr id="3" name="">
            <a:extLst xmlns:a="http://schemas.openxmlformats.org/drawingml/2006/main">
              <a:ext uri="{FF2B5EF4-FFF2-40B4-BE49-F238E27FC236}">
                <a16:creationId xmlns:a16="http://schemas.microsoft.com/office/drawing/2014/main" id="{4D0A230B-CED5-46BC-B9CD-2E8A356CDBC3}"/>
              </a:ext>
            </a:extLst>
          </p:cNvPr>
          <p:cNvSpPr>
            <a:spLocks xmlns:a="http://schemas.openxmlformats.org/drawingml/2006/main" noGrp="1"/>
          </p:cNvSpPr>
          <p:nvPr/>
        </p:nvSpPr>
        <p:spPr>
          <a:xfrm xmlns:a="http://schemas.openxmlformats.org/drawingml/2006/main">
            <a:off x="666750" y="62388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6A"/>
                </a:solidFill>
                <a:latin typeface="Helvetica Neue"/>
                <a:ea typeface="Helvetica Neue"/>
                <a:cs typeface="Helvetica Neue"/>
              </a:defRPr>
            </a:pPr>
            <a:r>
              <a:rPr sz="1350" b="0">
                <a:solidFill>
                  <a:srgbClr val="51666A"/>
                </a:solidFill>
                <a:latin typeface="Helvetica Neue"/>
                <a:ea typeface="Helvetica Neue"/>
                <a:cs typeface="Helvetica Neue"/>
              </a:rPr>
              <a:t>3 / 4</a:t>
            </a:r>
          </a:p>
        </p:txBody>
      </p:sp>
      <p:sp>
        <p:nvSpPr>
          <p:cNvPr id="4" name="">
            <a:extLst xmlns:a="http://schemas.openxmlformats.org/drawingml/2006/main">
              <a:ext uri="{FF2B5EF4-FFF2-40B4-BE49-F238E27FC236}">
                <a16:creationId xmlns:a16="http://schemas.microsoft.com/office/drawing/2014/main" id="{F68C9120-F21C-40B0-90C0-669B749D033B}"/>
              </a:ext>
            </a:extLst>
          </p:cNvPr>
          <p:cNvSpPr>
            <a:spLocks xmlns:a="http://schemas.openxmlformats.org/drawingml/2006/main" noGrp="1"/>
          </p:cNvSpPr>
          <p:nvPr/>
        </p:nvSpPr>
        <p:spPr>
          <a:xfrm xmlns:a="http://schemas.openxmlformats.org/drawingml/2006/main">
            <a:off x="704850" y="2105025"/>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006D6B"/>
                </a:solidFill>
                <a:latin typeface="Helvetica Neue"/>
                <a:ea typeface="Helvetica Neue"/>
                <a:cs typeface="Helvetica Neue"/>
              </a:defRPr>
            </a:pPr>
            <a:r>
              <a:rPr sz="6750" b="1">
                <a:solidFill>
                  <a:srgbClr val="006D6B"/>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B4C6AAAB-C2D5-44E7-A690-4D36BC43850C}"/>
              </a:ext>
            </a:extLst>
          </p:cNvPr>
          <p:cNvSpPr>
            <a:spLocks xmlns:a="http://schemas.openxmlformats.org/drawingml/2006/main" noGrp="1"/>
          </p:cNvSpPr>
          <p:nvPr/>
        </p:nvSpPr>
        <p:spPr>
          <a:xfrm xmlns:a="http://schemas.openxmlformats.org/drawingml/2006/main">
            <a:off x="752475" y="32861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83D"/>
                </a:solidFill>
                <a:latin typeface="Helvetica Neue"/>
                <a:ea typeface="Helvetica Neue"/>
                <a:cs typeface="Helvetica Neue"/>
              </a:defRPr>
            </a:pPr>
            <a:r>
              <a:rPr sz="2400" b="1">
                <a:solidFill>
                  <a:srgbClr val="17383D"/>
                </a:solidFill>
                <a:latin typeface="Helvetica Neue"/>
                <a:ea typeface="Helvetica Neue"/>
                <a:cs typeface="Helvetica Neue"/>
              </a:rPr>
              <a:t>tests passed</a:t>
            </a:r>
          </a:p>
        </p:txBody>
      </p:sp>
      <p:sp>
        <p:nvSpPr>
          <p:cNvPr id="6" name="">
            <a:extLst xmlns:a="http://schemas.openxmlformats.org/drawingml/2006/main">
              <a:ext uri="{FF2B5EF4-FFF2-40B4-BE49-F238E27FC236}">
                <a16:creationId xmlns:a16="http://schemas.microsoft.com/office/drawing/2014/main" id="{6A1E15A6-6A5B-4595-A71C-7DE14F8F692A}"/>
              </a:ext>
            </a:extLst>
          </p:cNvPr>
          <p:cNvSpPr>
            <a:spLocks xmlns:a="http://schemas.openxmlformats.org/drawingml/2006/main" noGrp="1"/>
          </p:cNvSpPr>
          <p:nvPr/>
        </p:nvSpPr>
        <p:spPr>
          <a:xfrm xmlns:a="http://schemas.openxmlformats.org/drawingml/2006/main">
            <a:off x="5715000" y="2105025"/>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006D6B"/>
                </a:solidFill>
                <a:latin typeface="Helvetica Neue"/>
                <a:ea typeface="Helvetica Neue"/>
                <a:cs typeface="Helvetica Neue"/>
              </a:defRPr>
            </a:pPr>
            <a:r>
              <a:rPr sz="6750" b="1">
                <a:solidFill>
                  <a:srgbClr val="006D6B"/>
                </a:solidFill>
                <a:latin typeface="Helvetica Neue"/>
                <a:ea typeface="Helvetica Neue"/>
                <a:cs typeface="Helvetica Neue"/>
              </a:rPr>
              <a:t>102</a:t>
            </a:r>
          </a:p>
        </p:txBody>
      </p:sp>
      <p:sp>
        <p:nvSpPr>
          <p:cNvPr id="7" name="">
            <a:extLst xmlns:a="http://schemas.openxmlformats.org/drawingml/2006/main">
              <a:ext uri="{FF2B5EF4-FFF2-40B4-BE49-F238E27FC236}">
                <a16:creationId xmlns:a16="http://schemas.microsoft.com/office/drawing/2014/main" id="{8A36FF44-0008-4D85-BB82-D84C1A017121}"/>
              </a:ext>
            </a:extLst>
          </p:cNvPr>
          <p:cNvSpPr>
            <a:spLocks xmlns:a="http://schemas.openxmlformats.org/drawingml/2006/main" noGrp="1"/>
          </p:cNvSpPr>
          <p:nvPr/>
        </p:nvSpPr>
        <p:spPr>
          <a:xfrm xmlns:a="http://schemas.openxmlformats.org/drawingml/2006/main">
            <a:off x="5762625" y="3286125"/>
            <a:ext cx="4238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83D"/>
                </a:solidFill>
                <a:latin typeface="Helvetica Neue"/>
                <a:ea typeface="Helvetica Neue"/>
                <a:cs typeface="Helvetica Neue"/>
              </a:defRPr>
            </a:pPr>
            <a:r>
              <a:rPr sz="2400" b="1">
                <a:solidFill>
                  <a:srgbClr val="17383D"/>
                </a:solidFill>
                <a:latin typeface="Helvetica Neue"/>
                <a:ea typeface="Helvetica Neue"/>
                <a:cs typeface="Helvetica Neue"/>
              </a:rPr>
              <a:t>code-check issues fixed</a:t>
            </a:r>
          </a:p>
        </p:txBody>
      </p:sp>
      <p:sp>
        <p:nvSpPr>
          <p:cNvPr id="8" name="">
            <a:extLst xmlns:a="http://schemas.openxmlformats.org/drawingml/2006/main">
              <a:ext uri="{FF2B5EF4-FFF2-40B4-BE49-F238E27FC236}">
                <a16:creationId xmlns:a16="http://schemas.microsoft.com/office/drawing/2014/main" id="{D6CBC8CC-913D-4426-9F53-63CB74343648}"/>
              </a:ext>
            </a:extLst>
          </p:cNvPr>
          <p:cNvSpPr>
            <a:spLocks xmlns:a="http://schemas.openxmlformats.org/drawingml/2006/main" noGrp="1"/>
          </p:cNvSpPr>
          <p:nvPr/>
        </p:nvSpPr>
        <p:spPr>
          <a:xfrm xmlns:a="http://schemas.openxmlformats.org/drawingml/2006/main">
            <a:off x="704850" y="451485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83D"/>
                </a:solidFill>
                <a:latin typeface="Helvetica Neue"/>
                <a:ea typeface="Helvetica Neue"/>
                <a:cs typeface="Helvetica Neue"/>
              </a:defRPr>
            </a:pPr>
            <a:r>
              <a:rPr sz="2250" b="0">
                <a:solidFill>
                  <a:srgbClr val="17383D"/>
                </a:solidFill>
                <a:latin typeface="Helvetica Neue"/>
                <a:ea typeface="Helvetica Neue"/>
                <a:cs typeface="Helvetica Neue"/>
              </a:rPr>
              <a:t>The tests check patient matches, dates, and safe error messages.</a:t>
            </a:r>
          </a:p>
        </p:txBody>
      </p:sp>
      <p:sp>
        <p:nvSpPr>
          <p:cNvPr id="9" name="">
            <a:extLst xmlns:a="http://schemas.openxmlformats.org/drawingml/2006/main">
              <a:ext uri="{FF2B5EF4-FFF2-40B4-BE49-F238E27FC236}">
                <a16:creationId xmlns:a16="http://schemas.microsoft.com/office/drawing/2014/main" id="{E6E88D6B-2B4A-471F-9349-192ECD80A97D}"/>
              </a:ext>
            </a:extLst>
          </p:cNvPr>
          <p:cNvSpPr>
            <a:spLocks xmlns:a="http://schemas.openxmlformats.org/drawingml/2006/main" noGrp="1"/>
          </p:cNvSpPr>
          <p:nvPr/>
        </p:nvSpPr>
        <p:spPr>
          <a:xfrm xmlns:a="http://schemas.openxmlformats.org/drawingml/2006/main">
            <a:off x="704850" y="5524500"/>
            <a:ext cx="9286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D6B"/>
                </a:solidFill>
                <a:latin typeface="Helvetica Neue"/>
                <a:ea typeface="Helvetica Neue"/>
                <a:cs typeface="Helvetica Neue"/>
              </a:defRPr>
            </a:pPr>
            <a:r>
              <a:rPr sz="2100" b="1">
                <a:solidFill>
                  <a:srgbClr val="006D6B"/>
                </a:solidFill>
                <a:latin typeface="Helvetica Neue"/>
                <a:ea typeface="Helvetica Neue"/>
                <a:cs typeface="Helvetica Neue"/>
              </a:rPr>
              <a:t>Results cover my new tool. Team review is still open.</a:t>
            </a:r>
          </a:p>
        </p:txBody>
      </p:sp>
    </p:spTree>
    <p:extLst>
      <p:ext uri="{BB962C8B-B14F-4D97-AF65-F5344CB8AC3E}">
        <p14:creationId xmlns:p14="http://schemas.microsoft.com/office/powerpoint/2010/main" val="14434716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e9cf2cd32684d5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2A95C5-06A1-45BF-B9F6-87FC29223E22}"/>
              </a:ext>
            </a:extLst>
          </p:cNvPr>
          <p:cNvSpPr>
            <a:spLocks xmlns:a="http://schemas.openxmlformats.org/drawingml/2006/main" noGrp="1"/>
          </p:cNvSpPr>
          <p:nvPr/>
        </p:nvSpPr>
        <p:spPr>
          <a:xfrm xmlns:a="http://schemas.openxmlformats.org/drawingml/2006/main">
            <a:off x="666750" y="619125"/>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83D"/>
                </a:solidFill>
                <a:latin typeface="Helvetica Neue"/>
                <a:ea typeface="Helvetica Neue"/>
                <a:cs typeface="Helvetica Neue"/>
              </a:defRPr>
            </a:pPr>
            <a:r>
              <a:rPr sz="3600" b="1">
                <a:solidFill>
                  <a:srgbClr val="17383D"/>
                </a:solidFill>
                <a:latin typeface="Helvetica Neue"/>
                <a:ea typeface="Helvetica Neue"/>
                <a:cs typeface="Helvetica Neue"/>
              </a:rPr>
              <a:t>I made the remaining work clearer</a:t>
            </a:r>
          </a:p>
        </p:txBody>
      </p:sp>
      <p:sp>
        <p:nvSpPr>
          <p:cNvPr id="3" name="">
            <a:extLst xmlns:a="http://schemas.openxmlformats.org/drawingml/2006/main">
              <a:ext uri="{FF2B5EF4-FFF2-40B4-BE49-F238E27FC236}">
                <a16:creationId xmlns:a16="http://schemas.microsoft.com/office/drawing/2014/main" id="{9FA374EB-9974-4175-9C64-8981AA3A0882}"/>
              </a:ext>
            </a:extLst>
          </p:cNvPr>
          <p:cNvSpPr>
            <a:spLocks xmlns:a="http://schemas.openxmlformats.org/drawingml/2006/main" noGrp="1"/>
          </p:cNvSpPr>
          <p:nvPr/>
        </p:nvSpPr>
        <p:spPr>
          <a:xfrm xmlns:a="http://schemas.openxmlformats.org/drawingml/2006/main">
            <a:off x="666750" y="62388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66A"/>
                </a:solidFill>
                <a:latin typeface="Helvetica Neue"/>
                <a:ea typeface="Helvetica Neue"/>
                <a:cs typeface="Helvetica Neue"/>
              </a:defRPr>
            </a:pPr>
            <a:r>
              <a:rPr sz="1350" b="0">
                <a:solidFill>
                  <a:srgbClr val="51666A"/>
                </a:solidFill>
                <a:latin typeface="Helvetica Neue"/>
                <a:ea typeface="Helvetica Neue"/>
                <a:cs typeface="Helvetica Neue"/>
              </a:rPr>
              <a:t>4 / 4</a:t>
            </a:r>
          </a:p>
        </p:txBody>
      </p:sp>
      <p:sp>
        <p:nvSpPr>
          <p:cNvPr id="4" name="">
            <a:extLst xmlns:a="http://schemas.openxmlformats.org/drawingml/2006/main">
              <a:ext uri="{FF2B5EF4-FFF2-40B4-BE49-F238E27FC236}">
                <a16:creationId xmlns:a16="http://schemas.microsoft.com/office/drawing/2014/main" id="{F1A9AA1F-55A5-44B4-9179-85B5971D00BE}"/>
              </a:ext>
            </a:extLst>
          </p:cNvPr>
          <p:cNvSpPr>
            <a:spLocks xmlns:a="http://schemas.openxmlformats.org/drawingml/2006/main" noGrp="1"/>
          </p:cNvSpPr>
          <p:nvPr/>
        </p:nvSpPr>
        <p:spPr>
          <a:xfrm xmlns:a="http://schemas.openxmlformats.org/drawingml/2006/main">
            <a:off x="704850" y="19812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I reviewed Team C’s progress and gaps</a:t>
            </a:r>
          </a:p>
        </p:txBody>
      </p:sp>
      <p:sp>
        <p:nvSpPr>
          <p:cNvPr id="5" name="">
            <a:extLst xmlns:a="http://schemas.openxmlformats.org/drawingml/2006/main">
              <a:ext uri="{FF2B5EF4-FFF2-40B4-BE49-F238E27FC236}">
                <a16:creationId xmlns:a16="http://schemas.microsoft.com/office/drawing/2014/main" id="{7D7E25C9-FD04-4204-A8B0-6601684B785A}"/>
              </a:ext>
            </a:extLst>
          </p:cNvPr>
          <p:cNvSpPr>
            <a:spLocks xmlns:a="http://schemas.openxmlformats.org/drawingml/2006/main" noGrp="1"/>
          </p:cNvSpPr>
          <p:nvPr/>
        </p:nvSpPr>
        <p:spPr>
          <a:xfrm xmlns:a="http://schemas.openxmlformats.org/drawingml/2006/main">
            <a:off x="704850" y="2447925"/>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I checked shared code and language support, then listed next steps.</a:t>
            </a:r>
          </a:p>
        </p:txBody>
      </p:sp>
      <p:sp>
        <p:nvSpPr>
          <p:cNvPr id="6" name="">
            <a:extLst xmlns:a="http://schemas.openxmlformats.org/drawingml/2006/main">
              <a:ext uri="{FF2B5EF4-FFF2-40B4-BE49-F238E27FC236}">
                <a16:creationId xmlns:a16="http://schemas.microsoft.com/office/drawing/2014/main" id="{6B8AF8E4-80D1-4799-A135-7D368B648285}"/>
              </a:ext>
            </a:extLst>
          </p:cNvPr>
          <p:cNvSpPr>
            <a:spLocks xmlns:a="http://schemas.openxmlformats.org/drawingml/2006/main" noGrp="1"/>
          </p:cNvSpPr>
          <p:nvPr/>
        </p:nvSpPr>
        <p:spPr>
          <a:xfrm xmlns:a="http://schemas.openxmlformats.org/drawingml/2006/main">
            <a:off x="704850" y="3286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I made team files easier to find</a:t>
            </a:r>
          </a:p>
        </p:txBody>
      </p:sp>
      <p:sp>
        <p:nvSpPr>
          <p:cNvPr id="7" name="">
            <a:extLst xmlns:a="http://schemas.openxmlformats.org/drawingml/2006/main">
              <a:ext uri="{FF2B5EF4-FFF2-40B4-BE49-F238E27FC236}">
                <a16:creationId xmlns:a16="http://schemas.microsoft.com/office/drawing/2014/main" id="{C0581BA3-76E9-4744-A4CB-F77D539FA409}"/>
              </a:ext>
            </a:extLst>
          </p:cNvPr>
          <p:cNvSpPr>
            <a:spLocks xmlns:a="http://schemas.openxmlformats.org/drawingml/2006/main" noGrp="1"/>
          </p:cNvSpPr>
          <p:nvPr/>
        </p:nvSpPr>
        <p:spPr>
          <a:xfrm xmlns:a="http://schemas.openxmlformats.org/drawingml/2006/main">
            <a:off x="704850" y="375285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I listed shared folders and checked why I could not upload files.</a:t>
            </a:r>
          </a:p>
        </p:txBody>
      </p:sp>
      <p:sp>
        <p:nvSpPr>
          <p:cNvPr id="8" name="">
            <a:extLst xmlns:a="http://schemas.openxmlformats.org/drawingml/2006/main">
              <a:ext uri="{FF2B5EF4-FFF2-40B4-BE49-F238E27FC236}">
                <a16:creationId xmlns:a16="http://schemas.microsoft.com/office/drawing/2014/main" id="{CE29F29A-7C74-4626-BBD6-EBE1DB82FD78}"/>
              </a:ext>
            </a:extLst>
          </p:cNvPr>
          <p:cNvSpPr>
            <a:spLocks xmlns:a="http://schemas.openxmlformats.org/drawingml/2006/main" noGrp="1"/>
          </p:cNvSpPr>
          <p:nvPr/>
        </p:nvSpPr>
        <p:spPr>
          <a:xfrm xmlns:a="http://schemas.openxmlformats.org/drawingml/2006/main">
            <a:off x="704850" y="45910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83D"/>
                </a:solidFill>
                <a:latin typeface="Helvetica Neue"/>
                <a:ea typeface="Helvetica Neue"/>
                <a:cs typeface="Helvetica Neue"/>
              </a:defRPr>
            </a:pPr>
            <a:r>
              <a:rPr sz="2250" b="1">
                <a:solidFill>
                  <a:srgbClr val="17383D"/>
                </a:solidFill>
                <a:latin typeface="Helvetica Neue"/>
                <a:ea typeface="Helvetica Neue"/>
                <a:cs typeface="Helvetica Neue"/>
              </a:rPr>
              <a:t>My next focus is review and a secure test</a:t>
            </a:r>
          </a:p>
        </p:txBody>
      </p:sp>
      <p:sp>
        <p:nvSpPr>
          <p:cNvPr id="9" name="">
            <a:extLst xmlns:a="http://schemas.openxmlformats.org/drawingml/2006/main">
              <a:ext uri="{FF2B5EF4-FFF2-40B4-BE49-F238E27FC236}">
                <a16:creationId xmlns:a16="http://schemas.microsoft.com/office/drawing/2014/main" id="{EB56780D-6CE0-4A99-A908-D932C8AABB4C}"/>
              </a:ext>
            </a:extLst>
          </p:cNvPr>
          <p:cNvSpPr>
            <a:spLocks xmlns:a="http://schemas.openxmlformats.org/drawingml/2006/main" noGrp="1"/>
          </p:cNvSpPr>
          <p:nvPr/>
        </p:nvSpPr>
        <p:spPr>
          <a:xfrm xmlns:a="http://schemas.openxmlformats.org/drawingml/2006/main">
            <a:off x="704850" y="5057775"/>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75156"/>
                </a:solidFill>
                <a:latin typeface="Helvetica Neue"/>
                <a:ea typeface="Helvetica Neue"/>
                <a:cs typeface="Helvetica Neue"/>
              </a:defRPr>
            </a:pPr>
            <a:r>
              <a:rPr sz="2100" b="0">
                <a:solidFill>
                  <a:srgbClr val="375156"/>
                </a:solidFill>
                <a:latin typeface="Helvetica Neue"/>
                <a:ea typeface="Helvetica Neue"/>
                <a:cs typeface="Helvetica Neue"/>
              </a:rPr>
              <a:t>The team still needs to review my work and test the hospital link.</a:t>
            </a:r>
          </a:p>
        </p:txBody>
      </p:sp>
    </p:spTree>
    <p:extLst>
      <p:ext uri="{BB962C8B-B14F-4D97-AF65-F5344CB8AC3E}">
        <p14:creationId xmlns:p14="http://schemas.microsoft.com/office/powerpoint/2010/main" val="968317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2026-09-18T19:09:07.1110000Z</dcterms:created>
  <dcterms:modified xsi:type="dcterms:W3CDTF">2026-09-18T19:09:07.1110000Z</dcterms:modified>
</coreProperties>
</file>